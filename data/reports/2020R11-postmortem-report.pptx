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orange-logo-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643168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E988E"/>
                </a:solidFill>
                <a:latin typeface="Calibri"/>
              </a:rPr>
              <a:t>Customer &amp; Service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7900"/>
                </a:solidFill>
                <a:latin typeface="Calibri"/>
              </a:rPr>
              <a:t>POSTMORTEM · MASORANGE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1752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2020R11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60"/>
            <a:ext cx="9905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B2A9"/>
                </a:solidFill>
                <a:latin typeface="Calibri"/>
              </a:rPr>
              <a:t>Informe de postmortem — rendimiento de incidencias por despliegue y evolución operativa.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0B09"/>
                </a:solidFill>
                <a:latin typeface="Calibri"/>
              </a:rPr>
              <a:t>Métricas Globales — 2020R11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77295" cy="381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800" cy="1554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C0B09"/>
                </a:solidFill>
                <a:latin typeface="Calibri"/>
              </a:rPr>
              <a:t>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5852"/>
                </a:solidFill>
                <a:latin typeface="Calibri"/>
              </a:rPr>
              <a:t>Total Incidencias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180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971800"/>
            <a:ext cx="50800" cy="1554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8754"/>
                </a:solidFill>
                <a:latin typeface="Calibri"/>
              </a:rPr>
              <a:t>86%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5852"/>
                </a:solidFill>
                <a:latin typeface="Calibri"/>
              </a:rPr>
              <a:t>% Resueltas PaP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C5852"/>
                </a:solidFill>
                <a:latin typeface="Calibri"/>
              </a:rPr>
              <a:t>36 de 42 incidencias PaP resueltas el día del PaP</a:t>
            </a:r>
          </a:p>
          <a:p>
            <a:r>
              <a:rPr sz="900">
                <a:solidFill>
                  <a:srgbClr val="5C5852"/>
                </a:solidFill>
                <a:latin typeface="Calibri"/>
              </a:rPr>
              <a:t>Objetivo: 75%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5488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50800" cy="1554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8754"/>
                </a:solidFill>
                <a:latin typeface="Calibri"/>
              </a:rPr>
              <a:t>81%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94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5852"/>
                </a:solidFill>
                <a:latin typeface="Calibri"/>
              </a:rPr>
              <a:t>% Resueltas Mesa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C5852"/>
                </a:solidFill>
                <a:latin typeface="Calibri"/>
              </a:rPr>
              <a:t>17 de 21 incidencias Mesa</a:t>
            </a:r>
          </a:p>
          <a:p>
            <a:r>
              <a:rPr sz="900">
                <a:solidFill>
                  <a:srgbClr val="5C5852"/>
                </a:solidFill>
                <a:latin typeface="Calibri"/>
              </a:rPr>
              <a:t>Objetivo: 75%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188720"/>
            <a:ext cx="7619695" cy="41273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0B09"/>
                </a:solidFill>
                <a:latin typeface="Calibri"/>
              </a:rPr>
              <a:t>Comparativa de KPIs por Release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77295" cy="381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557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C0B09"/>
                </a:solidFill>
                <a:latin typeface="Calibri"/>
              </a:rPr>
              <a:t>KPI % PaP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455767" cy="45464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78727" y="1188720"/>
            <a:ext cx="54557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C0B09"/>
                </a:solidFill>
                <a:latin typeface="Calibri"/>
              </a:rPr>
              <a:t>KPI % 1ª semana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645920"/>
            <a:ext cx="5455767" cy="45464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