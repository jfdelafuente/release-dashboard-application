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B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sorange-logo-posi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292608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2024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E988E"/>
                </a:solidFill>
                <a:latin typeface="Calibri"/>
              </a:rPr>
              <a:t>Customer &amp; Service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7900"/>
                </a:solidFill>
                <a:latin typeface="Calibri"/>
              </a:rPr>
              <a:t>POSTMORTEM · MASORANGE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017520"/>
            <a:ext cx="1109441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2026R3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51960"/>
            <a:ext cx="9905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8B2A9"/>
                </a:solidFill>
                <a:latin typeface="Calibri"/>
              </a:rPr>
              <a:t>Informe de postmortem — rendimiento de incidencias por despliegue y evolución operativa.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C0B09"/>
                </a:solidFill>
                <a:latin typeface="Calibri"/>
              </a:rPr>
              <a:t>Métricas Globales — 2026R3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1277295" cy="3810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2918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800" cy="155448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C0B09"/>
                </a:solidFill>
                <a:latin typeface="Calibri"/>
              </a:rPr>
              <a:t>81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C5852"/>
                </a:solidFill>
                <a:latin typeface="Calibri"/>
              </a:rPr>
              <a:t>Total Incidencias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71800"/>
            <a:ext cx="32918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971800"/>
            <a:ext cx="50800" cy="155448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10896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D8754"/>
                </a:solidFill>
                <a:latin typeface="Calibri"/>
              </a:rPr>
              <a:t>84%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118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C5852"/>
                </a:solidFill>
                <a:latin typeface="Calibri"/>
              </a:rPr>
              <a:t>% Resueltas PaP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862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C5852"/>
                </a:solidFill>
                <a:latin typeface="Calibri"/>
              </a:rPr>
              <a:t>46 de 55 incidencias PaP resueltas el día del PaP</a:t>
            </a:r>
          </a:p>
          <a:p>
            <a:r>
              <a:rPr sz="900">
                <a:solidFill>
                  <a:srgbClr val="5C5852"/>
                </a:solidFill>
                <a:latin typeface="Calibri"/>
              </a:rPr>
              <a:t>Objetivo: 75%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754880"/>
            <a:ext cx="32918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754880"/>
            <a:ext cx="50800" cy="155448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89204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D8754"/>
                </a:solidFill>
                <a:latin typeface="Calibri"/>
              </a:rPr>
              <a:t>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3949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C5852"/>
                </a:solidFill>
                <a:latin typeface="Calibri"/>
              </a:rPr>
              <a:t>% Resueltas Mesa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6692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C5852"/>
                </a:solidFill>
                <a:latin typeface="Calibri"/>
              </a:rPr>
              <a:t>26 de 26 incidencias Mesa</a:t>
            </a:r>
          </a:p>
          <a:p>
            <a:r>
              <a:rPr sz="900">
                <a:solidFill>
                  <a:srgbClr val="5C5852"/>
                </a:solidFill>
                <a:latin typeface="Calibri"/>
              </a:rPr>
              <a:t>Objetivo: 75%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188720"/>
            <a:ext cx="7619695" cy="41273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C0B09"/>
                </a:solidFill>
                <a:latin typeface="Calibri"/>
              </a:rPr>
              <a:t>Comparativa de KPIs por Release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1277295" cy="3810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5576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C0B09"/>
                </a:solidFill>
                <a:latin typeface="Calibri"/>
              </a:rPr>
              <a:t>KPI % PaP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5455767" cy="454647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78727" y="1188720"/>
            <a:ext cx="545576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C0B09"/>
                </a:solidFill>
                <a:latin typeface="Calibri"/>
              </a:rPr>
              <a:t>KPI % 1ª semana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7" y="1645920"/>
            <a:ext cx="5455767" cy="454647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